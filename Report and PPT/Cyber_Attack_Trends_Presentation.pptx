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Attack Type Share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3300"/>
              </a:solidFill>
              <a:effectLst/>
            </c:spPr>
          </c:dPt>
          <c:dPt>
            <c:idx val="1"/>
            <c:bubble3D val="0"/>
            <c:spPr>
              <a:solidFill>
                <a:srgbClr val="CC2200"/>
              </a:solidFill>
              <a:effectLst/>
            </c:spPr>
          </c:dPt>
          <c:dPt>
            <c:idx val="2"/>
            <c:bubble3D val="0"/>
            <c:spPr>
              <a:solidFill>
                <a:srgbClr val="BB5500"/>
              </a:solidFill>
              <a:effectLst/>
            </c:spPr>
          </c:dPt>
          <c:dPt>
            <c:idx val="3"/>
            <c:bubble3D val="0"/>
            <c:spPr>
              <a:solidFill>
                <a:srgbClr val="993300"/>
              </a:solidFill>
              <a:effectLst/>
            </c:spPr>
          </c:dPt>
          <c:dPt>
            <c:idx val="4"/>
            <c:bubble3D val="0"/>
            <c:spPr>
              <a:solidFill>
                <a:srgbClr val="BBBBB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Data Breach</c:v>
                </c:pt>
                <c:pt idx="1">
                  <c:v>Ransomware</c:v>
                </c:pt>
                <c:pt idx="2">
                  <c:v>DDoS</c:v>
                </c:pt>
                <c:pt idx="3">
                  <c:v>Wipers/Destructive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28</c:v>
                </c:pt>
                <c:pt idx="2">
                  <c:v>14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Incidents</c:v>
                </c:pt>
              </c:strCache>
            </c:strRef>
          </c:tx>
          <c:spPr>
            <a:solidFill>
              <a:srgbClr val="FF3300"/>
            </a:solidFill>
            <a:ln w="31750" cap="flat">
              <a:solidFill>
                <a:srgbClr val="FF3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3300"/>
              </a:solidFill>
              <a:ln w="9525" cap="flat">
                <a:solidFill>
                  <a:srgbClr val="FF3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1999</c:v>
                  </c:pt>
                  <c:pt idx="1">
                    <c:v>2001</c:v>
                  </c:pt>
                  <c:pt idx="2">
                    <c:v>2003</c:v>
                  </c:pt>
                  <c:pt idx="3">
                    <c:v>2005</c:v>
                  </c:pt>
                  <c:pt idx="4">
                    <c:v>2007</c:v>
                  </c:pt>
                  <c:pt idx="5">
                    <c:v>2009</c:v>
                  </c:pt>
                  <c:pt idx="6">
                    <c:v>2011</c:v>
                  </c:pt>
                  <c:pt idx="7">
                    <c:v>2013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8</c:v>
                </c:pt>
                <c:pt idx="6">
                  <c:v>14</c:v>
                </c:pt>
                <c:pt idx="7">
                  <c:v>18</c:v>
                </c:pt>
                <c:pt idx="8">
                  <c:v>22</c:v>
                </c:pt>
                <c:pt idx="9">
                  <c:v>30</c:v>
                </c:pt>
                <c:pt idx="10">
                  <c:v>38</c:v>
                </c:pt>
                <c:pt idx="11">
                  <c:v>45</c:v>
                </c:pt>
                <c:pt idx="12">
                  <c:v>52</c:v>
                </c:pt>
                <c:pt idx="13">
                  <c:v>68</c:v>
                </c:pt>
                <c:pt idx="14">
                  <c:v>82</c:v>
                </c:pt>
                <c:pt idx="15">
                  <c:v>95</c:v>
                </c:pt>
                <c:pt idx="16">
                  <c:v>88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Avg. Impact (scaled)</c:v>
                </c:pt>
              </c:strCache>
            </c:strRef>
          </c:tx>
          <c:spPr>
            <a:solidFill>
              <a:srgbClr val="334499"/>
            </a:solidFill>
            <a:ln w="31750" cap="flat">
              <a:solidFill>
                <a:srgbClr val="3344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4499"/>
              </a:solidFill>
              <a:ln w="9525" cap="flat">
                <a:solidFill>
                  <a:srgbClr val="3344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1999</c:v>
                  </c:pt>
                  <c:pt idx="1">
                    <c:v>2001</c:v>
                  </c:pt>
                  <c:pt idx="2">
                    <c:v>2003</c:v>
                  </c:pt>
                  <c:pt idx="3">
                    <c:v>2005</c:v>
                  </c:pt>
                  <c:pt idx="4">
                    <c:v>2007</c:v>
                  </c:pt>
                  <c:pt idx="5">
                    <c:v>2009</c:v>
                  </c:pt>
                  <c:pt idx="6">
                    <c:v>2011</c:v>
                  </c:pt>
                  <c:pt idx="7">
                    <c:v>2013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15</c:v>
                </c:pt>
                <c:pt idx="4">
                  <c:v>18</c:v>
                </c:pt>
                <c:pt idx="5">
                  <c:v>20</c:v>
                </c:pt>
                <c:pt idx="6">
                  <c:v>25</c:v>
                </c:pt>
                <c:pt idx="7">
                  <c:v>30</c:v>
                </c:pt>
                <c:pt idx="8">
                  <c:v>38</c:v>
                </c:pt>
                <c:pt idx="9">
                  <c:v>48</c:v>
                </c:pt>
                <c:pt idx="10">
                  <c:v>55</c:v>
                </c:pt>
                <c:pt idx="11">
                  <c:v>62</c:v>
                </c:pt>
                <c:pt idx="12">
                  <c:v>68</c:v>
                </c:pt>
                <c:pt idx="13">
                  <c:v>74</c:v>
                </c:pt>
                <c:pt idx="14">
                  <c:v>82</c:v>
                </c:pt>
                <c:pt idx="15">
                  <c:v>90</c:v>
                </c:pt>
                <c:pt idx="16">
                  <c:v>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Distribution by Impact Level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Incidents</c:v>
                </c:pt>
              </c:strCache>
            </c:strRef>
          </c:tx>
          <c:spPr>
            <a:solidFill>
              <a:srgbClr val="FF3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3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33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B66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30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pic>
        <p:nvPicPr>
          <p:cNvPr id="3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82880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CO-OP Project at Industry (Module-2) (22CS421)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Attack Trends and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Impact Analysis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2286000" y="2423160"/>
            <a:ext cx="4572000" cy="457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560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Sharma (nikhil1981.be22@chitkara.edu.in)  |  Harman Setia (harman367.be22@chitkara.edu.in)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971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S.B. Goyal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4564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CSE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6758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Chitkara University, Punjab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731520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digitalization has made organizations in government, finance, healthcare, retail, and education heavily dependent on digital infrastructure.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cyber-attacks were localized, low-skill activities; today they are orchestrated by organized criminal gangs and nation-state sponsored groups.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damage from cyber-attacks now runs into billions of dollars annually, with large-scale personal data leaks and disruption of critical services.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Motivations behind attacks vary: financial gain (ransomware, identity theft), political espionage, national sabotage, and ideological goals.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systematically analyzes major cyber-attacks from 1999–2023 across five dimensions: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 sector vulnerabilities   →  Most common and impactful attack types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Threat actor profiles &amp; motivations   →  Temporal evolution of attacks   →  Impact &amp; cost analysis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731520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Major cyber-attacks reported from 1999–2023 from publicly available and reliable sources.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 per incident: Year, Countries targeted, Threat actor type (Nation-state / Criminal), Attack type (Data Breach, Ransomware, DDoS, Wipers, etc.), Industry targeted, Impact intensity (Low → Critical), Estimated monetary cost.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Pre-processing: Removed duplicates and missing entries; normalized attributes for comparison; split multi-sector attacks into individual sector entries.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Techniques Used: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Frequency Analysis – Most targeted industries and relative attack frequency.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Time-based Analysis – Attack frequency and intensity trends; critical turning points.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Comparative Analysis – Threat actor types vs. attack types vs. targeted sectors.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Impact Assessment – Categorical impact severity vs. financial cost.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Dataset covers only reported/public attacks; unreported or concealed breaches are not reflected.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Distribution of Attacks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731520"/>
            <a:ext cx="50292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(Most targeted): Holds national security data, military info, diplomatic records, and citizen personal data — extremely valuable to criminal and nation-state actors.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(2nd): High volumes of credit/payment card data and transaction records — highly saleable on underground markets.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(3rd): Banks, credit institutions, investment providers — direct access to financial assets.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(4th): Medical records sold on black markets; disruption of care has life-critical implications.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growing targets: Telecom, Education, Energy, Tourism — increasingly vulnerable with digital adoption.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914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29400" y="932688"/>
            <a:ext cx="192024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932688"/>
            <a:ext cx="1728216" cy="2286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03336" y="9326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7840" y="1508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29400" y="1527048"/>
            <a:ext cx="192024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29400" y="1527048"/>
            <a:ext cx="1382573" cy="2286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57693" y="1527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2121408"/>
            <a:ext cx="192024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29400" y="2121408"/>
            <a:ext cx="1113739" cy="228600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88859" y="21214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29400" y="2715768"/>
            <a:ext cx="192024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29400" y="2715768"/>
            <a:ext cx="864108" cy="228600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39228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7784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629400" y="3310128"/>
            <a:ext cx="192024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29400" y="3310128"/>
            <a:ext cx="576072" cy="228600"/>
          </a:xfrm>
          <a:prstGeom prst="rect">
            <a:avLst/>
          </a:prstGeom>
          <a:solidFill>
            <a:srgbClr val="BB7700"/>
          </a:solidFill>
          <a:ln w="12700">
            <a:solidFill>
              <a:srgbClr val="BB77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51192" y="33101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4160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Attack Frequency by Sector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&amp; Distribution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713232"/>
            <a:ext cx="2103120" cy="192024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713232"/>
            <a:ext cx="2103120" cy="6400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822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1152144"/>
            <a:ext cx="19202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attack type. Involves unauthorized access to sensitive personal, financial, or operational data. Primary commodity of the cybercriminal economy.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77440" y="713232"/>
            <a:ext cx="2103120" cy="192024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77440" y="713232"/>
            <a:ext cx="210312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822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68880" y="1152144"/>
            <a:ext cx="19202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financially damaging. Encrypts victim data and demands ransom. Costs include ransom, downtime, repairs, and reputation loss — often hundreds of millions per incident.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0" y="713232"/>
            <a:ext cx="2103120" cy="192024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713232"/>
            <a:ext cx="2103120" cy="64008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822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/ Wipers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63440" y="1152144"/>
            <a:ext cx="19202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permanently destroy systems with no financial motive. Primarily deployed by nation-state actors for political disruption and sabotage of rival nations.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766560" y="713232"/>
            <a:ext cx="2103120" cy="192024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713232"/>
            <a:ext cx="2103120" cy="64008"/>
          </a:xfrm>
          <a:prstGeom prst="rect">
            <a:avLst/>
          </a:prstGeom>
          <a:solidFill>
            <a:srgbClr val="BB5500"/>
          </a:solidFill>
          <a:ln w="12700">
            <a:solidFill>
              <a:srgbClr val="BB5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822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&amp; Supply Chain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1152144"/>
            <a:ext cx="19202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floods services to cause outages. Supply chain attacks compromise trusted vendors to reach multiple downstream targets simultaneously.</a:t>
            </a:r>
            <a:endParaRPr lang="en-US" sz="11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1371600" y="2724912"/>
          <a:ext cx="6400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 Analysis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713232"/>
            <a:ext cx="4114800" cy="4114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713232"/>
            <a:ext cx="4114800" cy="3657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713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Actors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170432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Purely financial gain.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as organized criminal enterprises similar to legitimate businesses.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tactics: ransomware campaigns, credential phishing, business email compromise (BEC), dark-web data sales.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Opportunistic — target sectors and organizations with the weakest defenses and highest data value.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REvil, Conti, LockBit ransomware gangs.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713232"/>
            <a:ext cx="4114800" cy="4114800"/>
          </a:xfrm>
          <a:prstGeom prst="rect">
            <a:avLst/>
          </a:prstGeom>
          <a:solidFill>
            <a:srgbClr val="F5F5FF"/>
          </a:solidFill>
          <a:ln w="12700">
            <a:solidFill>
              <a:srgbClr val="CCCC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solidFill>
            <a:srgbClr val="222266"/>
          </a:solidFill>
          <a:ln w="12700">
            <a:solidFill>
              <a:srgbClr val="2222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713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170432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Espionage, sabotage, geopolitical influence.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 state resources — significantly more advanced than criminal groups.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tactics: targeted APTs (Advanced Persistent Threats), wipers, supply-chain compromises, long-term infiltration.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rival government systems, military infrastructure, critical utilities, financial networks.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between criminal and nation-state actors increasingly blurred — some criminal groups are state-supported.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 (1999–2023)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6858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126480" y="777240"/>
            <a:ext cx="2743200" cy="8229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172200" y="795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172200" y="1216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escalation begins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2743200" cy="822960"/>
          </a:xfrm>
          <a:prstGeom prst="rect">
            <a:avLst/>
          </a:prstGeom>
          <a:solidFill>
            <a:srgbClr val="2222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72200" y="1801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172200" y="2221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 for frequency &amp; impact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788920"/>
            <a:ext cx="2743200" cy="822960"/>
          </a:xfrm>
          <a:prstGeom prst="rect">
            <a:avLst/>
          </a:prstGeom>
          <a:solidFill>
            <a:srgbClr val="2222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72200" y="2807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172200" y="3227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in 2022 (dataset peak)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3794760"/>
            <a:ext cx="2743200" cy="8229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72200" y="3813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+400%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172200" y="4233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from 2010 to 2022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74320" y="41879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 IoT proliferation, cloud adoption, professionalization of cybercrime, state-sponsored offensive cyber programs.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713232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0" y="749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 Findings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0" y="114300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incidents rated High or Critical impact — affirming that reported attacks are predominantly severe events.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very large-scale attacks account for the majority of total monetary losses across all incidents.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and critical infrastructure sectors suffer the greatest operational impact due to dependency on continuous service delivery.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attacks carry wider-ranging and harder-to-quantify impacts than criminal attacks.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74320" y="4023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global cybercrime cost: &gt;$8 trillion in 2023 (industry estimates)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7315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731520"/>
            <a:ext cx="411480" cy="1737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417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" y="822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Frequency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" y="1170432"/>
            <a:ext cx="21945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rise from 2010; steepest increase 2016–2022 in both volume and severity of incidents.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7315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731520"/>
            <a:ext cx="411480" cy="1737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1417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75888" y="822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Sectors at Risk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75888" y="1170432"/>
            <a:ext cx="21945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Government, finance, healthcare, retail disproportionately targeted; cyber risk is now universal across all sectors.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0760" y="7315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731520"/>
            <a:ext cx="411480" cy="1737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1417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56248" y="822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Dominance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56248" y="1170432"/>
            <a:ext cx="21945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attack type — data has become the primary commodity of the cybercriminal economy.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" y="26334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2633472"/>
            <a:ext cx="411480" cy="1737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319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= Highest Cost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5528" y="3072384"/>
            <a:ext cx="21945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frequent but most damaging. A handful of mega-attacks account for the majority of total financial losses.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0" y="26334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0" y="2633472"/>
            <a:ext cx="411480" cy="1737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3319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675888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Geopoliticization of Cyber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75888" y="3072384"/>
            <a:ext cx="21945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Nation-states increasingly weaponize cyberspace for espionage, sabotage, and geopolitical competition.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080760" y="26334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80760" y="2633472"/>
            <a:ext cx="411480" cy="1737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80760" y="3319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556248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Global Cooperation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56248" y="3072384"/>
            <a:ext cx="21945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cross borders; intelligence-sharing, harmonized standards, and state accountability mechanisms are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7132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1024128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Cyber-attacks have increased dramatically in frequency and severity from 1999–2023, with 2016–2022 as the peak escalation period.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Government, finance, healthcare, and retail sectors remain priority targets; however, cyber risk now affects every industry.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 are most frequent; ransomware and wipers cause the greatest operational and financial damage.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nation-state involvement signals a geopolitical shift — cybersecurity is now a matter of national security.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713232"/>
            <a:ext cx="36576" cy="33832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7132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024128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post-2023 incidents and unreported breaches for a more complete threat landscape view.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ML/AI predictive models to forecast likely targets, attack types, and estimated impacts.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emerging attack surfaces: 5G infrastructure, IoT ecosystems, AI-powered systems.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cross-country legal and policy responses to develop actionable governance recommendations.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"/>
            <a:ext cx="16002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713232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S.B. Goyal, N. Sharma, H. Setia — "Cyber Attack Trends and Sectoral Impact Analysis," Chitkara University, 2023.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Verizon — "2023 Data Breach Investigations Report," Verizon Enterprise Solutions, 2023.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IBM Security — "Cost of a Data Breach Report 2023," IBM Corporation, 2023.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CISA — "Ransomware Guide," U.S. Department of Homeland Security, 2021.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FireEye Mandiant — "M-Trends 2022: Special Report," Mandiant, 2022.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ENISA — "ENISA Threat Landscape 2022," European Union Agency for Cybersecurity, 2022.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CrowdStrike — "2023 Global Threat Report," CrowdStrike Holdings, 2023.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T. Rid — "Cyber War Will Not Take Place," Journal of Strategic Studies, vol. 35, no. 1, 2012.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pic>
        <p:nvPicPr>
          <p:cNvPr id="4" name="Image 0" descr="/home/claude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82880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2743200" y="2743200"/>
            <a:ext cx="365760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nikhil1981.be22@chitkara.edu.in  |  harman367.be22@chitkara.edu.in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73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Engineering, Chitkara University, Punjab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Attack Trends and Sectoral Impact Analysis</dc:title>
  <dc:subject>PptxGenJS Presentation</dc:subject>
  <dc:creator>PptxGenJS</dc:creator>
  <cp:lastModifiedBy>PptxGenJS</cp:lastModifiedBy>
  <cp:revision>1</cp:revision>
  <dcterms:created xsi:type="dcterms:W3CDTF">2026-05-14T08:41:52Z</dcterms:created>
  <dcterms:modified xsi:type="dcterms:W3CDTF">2026-05-14T08:41:52Z</dcterms:modified>
</cp:coreProperties>
</file>